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8" r:id="rId1"/>
  </p:sldMasterIdLst>
  <p:sldIdLst>
    <p:sldId id="269" r:id="rId2"/>
    <p:sldId id="270" r:id="rId3"/>
    <p:sldId id="257" r:id="rId4"/>
    <p:sldId id="258" r:id="rId5"/>
    <p:sldId id="271" r:id="rId6"/>
    <p:sldId id="273" r:id="rId7"/>
    <p:sldId id="268" r:id="rId8"/>
    <p:sldId id="272" r:id="rId9"/>
    <p:sldId id="27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75" d="100"/>
          <a:sy n="75" d="100"/>
        </p:scale>
        <p:origin x="303" y="75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2T04:40:35.821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0 6553,'0'0'0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2T04:40:37.267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 6553,'0'0'0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2T04:40:59.40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1 4915,'0'0'0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C877F6-EE42-C9EF-0A6A-8E3AB6AF48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ADC111-2174-D85E-8557-115523E063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73D213-4CF3-DFAB-2C08-8F2947B6D7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E75F92-B42D-BF20-7B57-F36D829D2E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0157AF-8576-7292-8301-2EB31E70A6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52912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C17F1A-9D5B-541B-CDCA-3336451EF3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34C725-AB33-E893-C9CD-FF7677B17B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9093AD-4746-E4B7-2D53-3E3E015CC7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95111C-EE85-55EE-8A06-32A08A283A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D21516-2AF7-E7B6-9A30-DF4089F76B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32591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ED8087-33F4-8974-0AAB-9AE738E68E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71EAD7-2A8C-C0FD-3B5C-0B2C895BCE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B3A3F7-FD08-ECD4-FF6A-B3E973463D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D80BCC-4A01-949B-AE9B-54431D1ADC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2585A2-AB66-58CA-B15A-E985CA8F0F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63837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AF34CB-3344-5B91-EBD4-03245D1B5A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F7B198-3990-D48E-0AB0-A1FE49B26D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B6C0EB-4CED-8379-C252-F8DC8B26EF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BE6BD5-8EA9-6E0C-8311-E175C5EAD2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FF94D3-4BDE-BF4C-334C-4DF2B76C7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1DDE96-B26F-880B-D216-120B3FAE8E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6512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11E0BE-DFF3-9866-AD7D-ACE82184F3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D40AA7-3F85-8BA7-43AE-112703910B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85548E3-9A19-19C4-D644-049ABE2AAB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4F0BE6-56C2-B711-3DFB-45122D88245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77E4713-90DB-7391-BEE6-59C968A854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3A1FA6E-9C81-96D8-2E54-7FAA6C5DA0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296A929-2D57-44CC-057E-8B98E77561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0B2CDFF-8560-F321-434A-075EA215B2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27752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4ACA68-9CB5-B3FB-FCEC-A72B8D643F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9D9184D-33F7-7CB7-9869-F1379201D4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ECB0FF-1591-37F7-A9EB-FBCAD58B08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2AB107E-C11C-39D7-BA7E-E66396F60A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22230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691A030-746B-838D-083F-E868B6C1DB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BF5D4B3-A3BA-8B71-E936-68F7CCC21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DC8EC0-1964-4547-58AF-498C6E8A89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66583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43E77B-A5BE-3F21-91F2-B322C7C754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24F668-95D6-D4E5-41F3-5A4E1B3B4A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E2B6DA-3D5E-6454-566A-1FBB3ABA7C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C289B9-C146-9E62-2815-1F9DF00155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911410-9F15-2D1C-3736-C292D8BE2F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1BFE9E-A65E-2E41-4D27-13D90C49B8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14685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57489A-8459-C4E6-F429-D6A4DFE970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45820B3-1BEA-93EE-D457-B068F33BC661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AB22CF-06B0-9BBE-917A-147E7A85C4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252A11-929C-C20F-4AAF-2709FE2AE1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84568D-1BBC-602A-617E-B1192EE2D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A90C9B-7005-4EDF-FDE5-659469E47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2499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65366A-205B-A134-563B-66B24A87D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5D99DA-D8F4-C293-F8B5-E1F6464306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C20C7F-6608-3867-B9FB-9A0474329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24C6CC-3B1A-8073-CAF1-9856A7D4C5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0A3AD5-F6A8-9A92-2175-4507DE2AC8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09542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3D360D4-0F7B-EC58-3C41-90EC2F74373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5B05C57-1447-07A7-03A4-98A552A6C7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924BF2-8F82-84C6-C163-87D823618E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8FB0B5-7B9F-222C-F454-F8FBCAF5F2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8E68CE-9471-5F0B-43BB-D472A3F0A8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46209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2B1252B-EB34-D076-64BF-19401AD46C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D18BD8-91CA-94D4-7423-F87AD3E1DF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F4277F-F607-DBE1-9AC7-541A2F300BE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BEA249-4618-A5B8-409E-971EC59BEE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A7F0FB-6421-3AB9-087F-1A94F0000F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32989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92" r:id="rId4"/>
    <p:sldLayoutId id="2147483693" r:id="rId5"/>
    <p:sldLayoutId id="2147483694" r:id="rId6"/>
    <p:sldLayoutId id="2147483695" r:id="rId7"/>
    <p:sldLayoutId id="2147483696" r:id="rId8"/>
    <p:sldLayoutId id="2147483697" r:id="rId9"/>
    <p:sldLayoutId id="2147483698" r:id="rId10"/>
    <p:sldLayoutId id="214748369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7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3.xml"/><Relationship Id="rId5" Type="http://schemas.openxmlformats.org/officeDocument/2006/relationships/customXml" Target="../ink/ink2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6C237E6-ED71-E42C-BD78-0972A3F870F8}"/>
              </a:ext>
            </a:extLst>
          </p:cNvPr>
          <p:cNvSpPr txBox="1"/>
          <p:nvPr/>
        </p:nvSpPr>
        <p:spPr>
          <a:xfrm>
            <a:off x="603379" y="1998260"/>
            <a:ext cx="962297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Mentorship and Guidance Management System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D33A144-8FF5-9618-4CBA-6918924D7806}"/>
              </a:ext>
            </a:extLst>
          </p:cNvPr>
          <p:cNvSpPr txBox="1"/>
          <p:nvPr/>
        </p:nvSpPr>
        <p:spPr>
          <a:xfrm>
            <a:off x="7383624" y="5257513"/>
            <a:ext cx="458444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800" dirty="0">
                <a:latin typeface="Times New Roman"/>
              </a:rPr>
              <a:t>Dheeraj Krushna P(192525230)</a:t>
            </a:r>
            <a:r>
              <a:rPr lang="en-US" dirty="0">
                <a:latin typeface="Times New Roman"/>
              </a:rPr>
              <a:t> CSE(AIML)</a:t>
            </a:r>
            <a:endParaRPr lang="en-US" sz="1800" dirty="0">
              <a:latin typeface="Times New Roman"/>
            </a:endParaRPr>
          </a:p>
          <a:p>
            <a:r>
              <a:rPr lang="en-US" dirty="0">
                <a:latin typeface="Times New Roman"/>
              </a:rPr>
              <a:t>Srikanth(192411139) CSE</a:t>
            </a:r>
          </a:p>
          <a:p>
            <a:r>
              <a:rPr lang="en-US" dirty="0">
                <a:latin typeface="Times New Roman"/>
              </a:rPr>
              <a:t>P. Hemanth Reddy(192311086) CSE(cs)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B9806C2-B26A-BA40-3FE3-4B9524E436A4}"/>
              </a:ext>
            </a:extLst>
          </p:cNvPr>
          <p:cNvSpPr txBox="1"/>
          <p:nvPr/>
        </p:nvSpPr>
        <p:spPr>
          <a:xfrm>
            <a:off x="709125" y="5317285"/>
            <a:ext cx="235131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latin typeface="Times New Roman"/>
              </a:rPr>
              <a:t>PROJECT GUIDE</a:t>
            </a:r>
            <a:endParaRPr lang="en-IN" sz="1800" b="0" i="0" u="none" dirty="0">
              <a:latin typeface="Times New Roman"/>
            </a:endParaRPr>
          </a:p>
          <a:p>
            <a:pPr algn="l"/>
            <a:r>
              <a:rPr lang="en-IN" sz="1800" b="0" i="0" u="none" dirty="0">
                <a:latin typeface="Times New Roman"/>
              </a:rPr>
              <a:t>Dr. </a:t>
            </a:r>
            <a:r>
              <a:rPr lang="en-IN" sz="1800" dirty="0" err="1">
                <a:latin typeface="Times New Roman"/>
              </a:rPr>
              <a:t>Kosalairaman</a:t>
            </a:r>
            <a:endParaRPr lang="en-IN" sz="1800" b="0" i="0" u="none" dirty="0">
              <a:latin typeface="Times New Roman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6B6889C-1117-B03F-4FF0-DD2C0EC52915}"/>
              </a:ext>
            </a:extLst>
          </p:cNvPr>
          <p:cNvSpPr txBox="1"/>
          <p:nvPr/>
        </p:nvSpPr>
        <p:spPr>
          <a:xfrm>
            <a:off x="709125" y="2992342"/>
            <a:ext cx="6096000" cy="736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5670"/>
              </a:lnSpc>
            </a:pPr>
            <a:r>
              <a:rPr lang="en-US" sz="2400" b="0" i="0" u="none" dirty="0">
                <a:solidFill>
                  <a:srgbClr val="1C1C1C"/>
                </a:solidFill>
                <a:latin typeface="Times New Roman"/>
              </a:rPr>
              <a:t>CSA 4302 Internet Programming</a:t>
            </a:r>
            <a:endParaRPr lang="en-US" sz="2400" b="0" i="1" u="none" dirty="0">
              <a:solidFill>
                <a:srgbClr val="B38754"/>
              </a:solidFill>
              <a:latin typeface="Times New Roman"/>
            </a:endParaRPr>
          </a:p>
        </p:txBody>
      </p:sp>
      <p:grpSp>
        <p:nvGrpSpPr>
          <p:cNvPr id="11" name="object 2">
            <a:extLst>
              <a:ext uri="{FF2B5EF4-FFF2-40B4-BE49-F238E27FC236}">
                <a16:creationId xmlns:a16="http://schemas.microsoft.com/office/drawing/2014/main" id="{95DC2A6A-88CA-E9BE-FA53-518E22867B00}"/>
              </a:ext>
            </a:extLst>
          </p:cNvPr>
          <p:cNvGrpSpPr/>
          <p:nvPr/>
        </p:nvGrpSpPr>
        <p:grpSpPr>
          <a:xfrm>
            <a:off x="367003" y="326402"/>
            <a:ext cx="11559577" cy="1689010"/>
            <a:chOff x="295921" y="326402"/>
            <a:chExt cx="11630660" cy="1877060"/>
          </a:xfrm>
        </p:grpSpPr>
        <p:sp>
          <p:nvSpPr>
            <p:cNvPr id="12" name="object 3">
              <a:extLst>
                <a:ext uri="{FF2B5EF4-FFF2-40B4-BE49-F238E27FC236}">
                  <a16:creationId xmlns:a16="http://schemas.microsoft.com/office/drawing/2014/main" id="{F967C01C-3337-24BB-12F0-1C6717AB4282}"/>
                </a:ext>
              </a:extLst>
            </p:cNvPr>
            <p:cNvSpPr/>
            <p:nvPr/>
          </p:nvSpPr>
          <p:spPr>
            <a:xfrm>
              <a:off x="314958" y="345440"/>
              <a:ext cx="11592560" cy="1838960"/>
            </a:xfrm>
            <a:custGeom>
              <a:avLst/>
              <a:gdLst/>
              <a:ahLst/>
              <a:cxnLst/>
              <a:rect l="l" t="t" r="r" b="b"/>
              <a:pathLst>
                <a:path w="11592560" h="1838960">
                  <a:moveTo>
                    <a:pt x="0" y="0"/>
                  </a:moveTo>
                  <a:lnTo>
                    <a:pt x="11592558" y="0"/>
                  </a:lnTo>
                  <a:lnTo>
                    <a:pt x="11592558" y="1838958"/>
                  </a:lnTo>
                  <a:lnTo>
                    <a:pt x="0" y="1838958"/>
                  </a:lnTo>
                  <a:lnTo>
                    <a:pt x="0" y="0"/>
                  </a:lnTo>
                  <a:close/>
                </a:path>
              </a:pathLst>
            </a:custGeom>
            <a:ln w="380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4">
              <a:extLst>
                <a:ext uri="{FF2B5EF4-FFF2-40B4-BE49-F238E27FC236}">
                  <a16:creationId xmlns:a16="http://schemas.microsoft.com/office/drawing/2014/main" id="{167E065C-1F41-CBD8-88F0-A97C50ED5BF8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90309" y="507709"/>
              <a:ext cx="10972800" cy="118103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5767194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6850538-209D-C78C-3143-6A40A7199BDC}"/>
              </a:ext>
            </a:extLst>
          </p:cNvPr>
          <p:cNvSpPr txBox="1"/>
          <p:nvPr/>
        </p:nvSpPr>
        <p:spPr>
          <a:xfrm>
            <a:off x="659362" y="2084829"/>
            <a:ext cx="10686661" cy="35086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spcBef>
                <a:spcPts val="1200"/>
              </a:spcBef>
              <a:buFont typeface="Wingdings" panose="05000000000000000000" pitchFamily="2" charset="2"/>
              <a:buChar char="q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Student Mentorship and Guidance Management Portal is a centralized platform designed to connect students with mentors.</a:t>
            </a:r>
          </a:p>
          <a:p>
            <a:pPr marL="342900" lvl="0" indent="-342900">
              <a:spcBef>
                <a:spcPts val="1200"/>
              </a:spcBef>
              <a:buFont typeface="Wingdings" panose="05000000000000000000" pitchFamily="2" charset="2"/>
              <a:buChar char="q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helps students receive academic support, career guidance, and personalized learning recommendations.</a:t>
            </a:r>
          </a:p>
          <a:p>
            <a:pPr marL="342900" lvl="0" indent="-342900">
              <a:spcBef>
                <a:spcPts val="1200"/>
              </a:spcBef>
              <a:buFont typeface="Wingdings" panose="05000000000000000000" pitchFamily="2" charset="2"/>
              <a:buChar char="q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portal enables efficient mentor allocation, appointment scheduling, and communication between students and mentors.</a:t>
            </a:r>
          </a:p>
          <a:p>
            <a:pPr marL="342900" lvl="0" indent="-342900">
              <a:spcBef>
                <a:spcPts val="1200"/>
              </a:spcBef>
              <a:buFont typeface="Wingdings" panose="05000000000000000000" pitchFamily="2" charset="2"/>
              <a:buChar char="q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tracks student progress, collects feedback, and improves the overall mentorship and learning experience.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A9609EF-D442-AB22-5C81-E12B01C639D4}"/>
              </a:ext>
            </a:extLst>
          </p:cNvPr>
          <p:cNvSpPr txBox="1"/>
          <p:nvPr/>
        </p:nvSpPr>
        <p:spPr>
          <a:xfrm>
            <a:off x="4335624" y="618187"/>
            <a:ext cx="387798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93895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380792" y="486697"/>
            <a:ext cx="4696799" cy="49244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200" b="1" i="0" u="none" dirty="0">
                <a:latin typeface="Times New Roman"/>
              </a:rPr>
              <a:t>PROBLEM STATEMENT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6369173-4841-A665-47A6-2AD5DAB583D7}"/>
              </a:ext>
            </a:extLst>
          </p:cNvPr>
          <p:cNvSpPr txBox="1"/>
          <p:nvPr/>
        </p:nvSpPr>
        <p:spPr>
          <a:xfrm>
            <a:off x="491411" y="1682153"/>
            <a:ext cx="11109650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Bef>
                <a:spcPts val="1200"/>
              </a:spcBef>
              <a:buFont typeface="Wingdings" panose="05000000000000000000" pitchFamily="2" charset="2"/>
              <a:buChar char="q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Centralized Student Information: Student academic records, performance details, and learning goals are maintained separately, making progress tracking difficult.</a:t>
            </a:r>
          </a:p>
          <a:p>
            <a:pPr marL="342900" indent="-342900">
              <a:spcBef>
                <a:spcPts val="1200"/>
              </a:spcBef>
              <a:buFont typeface="Wingdings" panose="05000000000000000000" pitchFamily="2" charset="2"/>
              <a:buChar char="q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Inefficient Mentor Allocation: Assigning suitable mentors to students and managing mentorship appointments can be time-consuming and unorganized.</a:t>
            </a:r>
          </a:p>
          <a:p>
            <a:pPr marL="342900" indent="-342900">
              <a:spcBef>
                <a:spcPts val="1200"/>
              </a:spcBef>
              <a:buFont typeface="Wingdings" panose="05000000000000000000" pitchFamily="2" charset="2"/>
              <a:buChar char="q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Guidance and Communication: Students may face difficulties accessing timely academic support, career guidance, and effective communication with mentors.</a:t>
            </a:r>
          </a:p>
          <a:p>
            <a:pPr marL="342900" indent="-342900">
              <a:spcBef>
                <a:spcPts val="1200"/>
              </a:spcBef>
              <a:buFont typeface="Wingdings" panose="05000000000000000000" pitchFamily="2" charset="2"/>
              <a:buChar char="q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Inadequate Progress Monitoring: The absence of systematic feedback collection and progress reports makes it difficult to identify student challenges and measure improvement.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778186" y="2505807"/>
            <a:ext cx="215526" cy="215526"/>
          </a:xfrm>
          <a:prstGeom prst="rect">
            <a:avLst/>
          </a:prstGeom>
          <a:noFill/>
          <a:ln w="19050">
            <a:solidFill>
              <a:srgbClr val="B387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778186" y="3435387"/>
            <a:ext cx="215526" cy="215526"/>
          </a:xfrm>
          <a:prstGeom prst="rect">
            <a:avLst/>
          </a:prstGeom>
          <a:noFill/>
          <a:ln w="19050">
            <a:solidFill>
              <a:srgbClr val="B387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778186" y="4364968"/>
            <a:ext cx="215526" cy="215526"/>
          </a:xfrm>
          <a:prstGeom prst="rect">
            <a:avLst/>
          </a:prstGeom>
          <a:noFill/>
          <a:ln w="19050">
            <a:solidFill>
              <a:srgbClr val="B387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307633" y="436793"/>
            <a:ext cx="2923877" cy="55399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600" b="1" i="0" u="none" dirty="0">
                <a:latin typeface="Times New Roman"/>
              </a:rPr>
              <a:t>OBJECTIVES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66950" y="2415480"/>
            <a:ext cx="7353597" cy="3961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120"/>
              </a:lnSpc>
            </a:pPr>
            <a:r>
              <a:rPr sz="2400" b="1" i="0" u="none" dirty="0">
                <a:solidFill>
                  <a:srgbClr val="1C1C1C"/>
                </a:solidFill>
                <a:latin typeface="Times New Roman"/>
              </a:rPr>
              <a:t>Smart Matching:</a:t>
            </a:r>
            <a:r>
              <a:rPr sz="2400" b="0" i="0" u="none" dirty="0">
                <a:solidFill>
                  <a:srgbClr val="1C1C1C"/>
                </a:solidFill>
                <a:latin typeface="Times New Roman"/>
              </a:rPr>
              <a:t> Pair by exact technical skills.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66950" y="3345060"/>
            <a:ext cx="8952755" cy="3961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120"/>
              </a:lnSpc>
            </a:pPr>
            <a:r>
              <a:rPr sz="2400" b="1" i="0" u="none" dirty="0">
                <a:solidFill>
                  <a:srgbClr val="1C1C1C"/>
                </a:solidFill>
                <a:latin typeface="Times New Roman"/>
              </a:rPr>
              <a:t>Unified Scheduling:</a:t>
            </a:r>
            <a:r>
              <a:rPr sz="2400" b="0" i="0" u="none" dirty="0">
                <a:solidFill>
                  <a:srgbClr val="1C1C1C"/>
                </a:solidFill>
                <a:latin typeface="Times New Roman"/>
              </a:rPr>
              <a:t> Automate faculty availability blocks.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66950" y="4274641"/>
            <a:ext cx="8923920" cy="3961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120"/>
              </a:lnSpc>
            </a:pPr>
            <a:r>
              <a:rPr sz="2400" b="1" i="0" u="none">
                <a:solidFill>
                  <a:srgbClr val="1C1C1C"/>
                </a:solidFill>
                <a:latin typeface="Times New Roman"/>
              </a:rPr>
              <a:t>Progress Tracking:</a:t>
            </a:r>
            <a:r>
              <a:rPr sz="2400" b="0" i="0" u="none">
                <a:solidFill>
                  <a:srgbClr val="1C1C1C"/>
                </a:solidFill>
                <a:latin typeface="Times New Roman"/>
              </a:rPr>
              <a:t> Monitor active milestone completion.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D6ACFF5-A368-C0E2-9140-F90B4E60602E}"/>
              </a:ext>
            </a:extLst>
          </p:cNvPr>
          <p:cNvSpPr txBox="1"/>
          <p:nvPr/>
        </p:nvSpPr>
        <p:spPr>
          <a:xfrm>
            <a:off x="684244" y="1830556"/>
            <a:ext cx="8615265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1: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Profile and Academic Progress Management</a:t>
            </a:r>
          </a:p>
          <a:p>
            <a:pPr lvl="0"/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2: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Mentor Allocation and Communication Management</a:t>
            </a:r>
          </a:p>
          <a:p>
            <a:pPr lvl="0"/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3: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Guidance, Feedback and Progress Monitoring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736AE7B-1007-8C4C-BF27-6AE19E7325F6}"/>
              </a:ext>
            </a:extLst>
          </p:cNvPr>
          <p:cNvSpPr txBox="1"/>
          <p:nvPr/>
        </p:nvSpPr>
        <p:spPr>
          <a:xfrm>
            <a:off x="4460033" y="242595"/>
            <a:ext cx="226055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MODULES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84320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4566A56D-07E9-A830-069E-E4B750E8D1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0906" y="384858"/>
            <a:ext cx="9132425" cy="6088283"/>
          </a:xfrm>
          <a:prstGeom prst="rect">
            <a:avLst/>
          </a:prstGeom>
        </p:spPr>
      </p:pic>
      <p:sp>
        <p:nvSpPr>
          <p:cNvPr id="33" name="Rectangle 32">
            <a:extLst>
              <a:ext uri="{FF2B5EF4-FFF2-40B4-BE49-F238E27FC236}">
                <a16:creationId xmlns:a16="http://schemas.microsoft.com/office/drawing/2014/main" id="{15A27524-3881-DAB6-A113-979F8369EA16}"/>
              </a:ext>
            </a:extLst>
          </p:cNvPr>
          <p:cNvSpPr/>
          <p:nvPr/>
        </p:nvSpPr>
        <p:spPr>
          <a:xfrm>
            <a:off x="3828618" y="462059"/>
            <a:ext cx="3937000" cy="74295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C7B6B49-4931-34DC-A2DA-959C62BF34DA}"/>
              </a:ext>
            </a:extLst>
          </p:cNvPr>
          <p:cNvSpPr txBox="1"/>
          <p:nvPr/>
        </p:nvSpPr>
        <p:spPr>
          <a:xfrm>
            <a:off x="3340549" y="373842"/>
            <a:ext cx="530767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FD1169F3-FA89-ACF3-9BC0-AF888C598154}"/>
                  </a:ext>
                </a:extLst>
              </p14:cNvPr>
              <p14:cNvContentPartPr/>
              <p14:nvPr/>
            </p14:nvContentPartPr>
            <p14:xfrm>
              <a:off x="5722707" y="1349775"/>
              <a:ext cx="360" cy="36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FD1169F3-FA89-ACF3-9BC0-AF888C59815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704707" y="1331775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D77AB6A0-4E15-5D4C-55A1-68532501BBE2}"/>
                  </a:ext>
                </a:extLst>
              </p14:cNvPr>
              <p14:cNvContentPartPr/>
              <p14:nvPr/>
            </p14:nvContentPartPr>
            <p14:xfrm>
              <a:off x="4888947" y="1585935"/>
              <a:ext cx="360" cy="36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D77AB6A0-4E15-5D4C-55A1-68532501BBE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871307" y="1568295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35B82F44-5B7D-11E1-B06E-AEC16F3CEE3B}"/>
                  </a:ext>
                </a:extLst>
              </p14:cNvPr>
              <p14:cNvContentPartPr/>
              <p14:nvPr/>
            </p14:nvContentPartPr>
            <p14:xfrm>
              <a:off x="5994385" y="1514290"/>
              <a:ext cx="360" cy="36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35B82F44-5B7D-11E1-B06E-AEC16F3CEE3B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931385" y="1451650"/>
                <a:ext cx="126000" cy="126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54867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E82F942-03C0-D066-12CF-0AE5307793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14DD6C6C-F50F-64CA-900D-5F9891926436}"/>
              </a:ext>
            </a:extLst>
          </p:cNvPr>
          <p:cNvSpPr txBox="1"/>
          <p:nvPr/>
        </p:nvSpPr>
        <p:spPr>
          <a:xfrm>
            <a:off x="3219061" y="448980"/>
            <a:ext cx="5015027" cy="55399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600" b="1" i="0" u="none" dirty="0">
                <a:latin typeface="Times New Roman"/>
              </a:rPr>
              <a:t>LITERATURE SURVEY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4434C93-1734-C161-D5F9-FD3B877F27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0436045"/>
              </p:ext>
            </p:extLst>
          </p:nvPr>
        </p:nvGraphicFramePr>
        <p:xfrm>
          <a:off x="783771" y="1612382"/>
          <a:ext cx="9237305" cy="3906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56997">
                  <a:extLst>
                    <a:ext uri="{9D8B030D-6E8A-4147-A177-3AD203B41FA5}">
                      <a16:colId xmlns:a16="http://schemas.microsoft.com/office/drawing/2014/main" val="1725855325"/>
                    </a:ext>
                  </a:extLst>
                </a:gridCol>
                <a:gridCol w="3396344">
                  <a:extLst>
                    <a:ext uri="{9D8B030D-6E8A-4147-A177-3AD203B41FA5}">
                      <a16:colId xmlns:a16="http://schemas.microsoft.com/office/drawing/2014/main" val="1496963072"/>
                    </a:ext>
                  </a:extLst>
                </a:gridCol>
                <a:gridCol w="864637">
                  <a:extLst>
                    <a:ext uri="{9D8B030D-6E8A-4147-A177-3AD203B41FA5}">
                      <a16:colId xmlns:a16="http://schemas.microsoft.com/office/drawing/2014/main" val="1112196162"/>
                    </a:ext>
                  </a:extLst>
                </a:gridCol>
                <a:gridCol w="3819327">
                  <a:extLst>
                    <a:ext uri="{9D8B030D-6E8A-4147-A177-3AD203B41FA5}">
                      <a16:colId xmlns:a16="http://schemas.microsoft.com/office/drawing/2014/main" val="239987552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 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Research Paper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301475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Guided Student Profile System: Mentor Feedback Integration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Limited personalized guidance and progress tracking.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073643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 Mentorship-Driven Decision Support Platform for Career Planning in Undergraduate Engineering Education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Focuses mainly on career planning.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347955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Bridging the Gap: Developing an Alumni Association Platform to Enhance Student Guidance and Institutional Connectivity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Limited focus on continuous academic mentoring.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801901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Enhancing Career Development: An AI-Driven Mentorship Platform for Student-Mentor Connections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Primarily focuses on AI-based mentor connections.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493986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346637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A2BD6F8-794D-AE0E-E169-E196395E0A29}"/>
              </a:ext>
            </a:extLst>
          </p:cNvPr>
          <p:cNvSpPr txBox="1"/>
          <p:nvPr/>
        </p:nvSpPr>
        <p:spPr>
          <a:xfrm>
            <a:off x="286138" y="1605094"/>
            <a:ext cx="11482874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Sadasivam, V. R., Sanjaykumar, V., Imam, A. S., &amp; Vasanthan, R. (2024). Guided Student Profile System: Mentor Feedback Integration. 2024 International Conference on Intelligent Systems for Cybersecurity (ISCS), IEEE, 1–5.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Dhumal, A. D. (2026). A Mentorship-Driven Decision Support Platform for Career Planning in Undergraduate Engineering Education.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Jaiswal, A., Solanki, P., Rathore, R., Pillai, S., Jain, S.,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Berchha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T., &amp; Toke, V. (2025). Bridging the Gap: Developing an Alumni Association Platform to Enhance Student Guidance and Institutional Connectivity. International Journal of Knowledge Based Computer Systems, 13(1), 38.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Charanya, P., Nidhish, M., Prajesh, U. R.,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Saktheeswar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K., &amp; Sanjana, S. P. (2025). Enhancing Career Development: An AI-Driven Mentorship Platform for Student-Mentor Connections. 2025 International Conference on Computational, Communication and Information Technology (ICCCIT), IEEE, 147–152.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D9926EE-B41B-02B0-4BF1-1923F4778B6E}"/>
              </a:ext>
            </a:extLst>
          </p:cNvPr>
          <p:cNvSpPr txBox="1"/>
          <p:nvPr/>
        </p:nvSpPr>
        <p:spPr>
          <a:xfrm>
            <a:off x="4441371" y="522514"/>
            <a:ext cx="271741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7712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8695729-3F1E-B90E-5DF2-872C2F8FF69A}"/>
              </a:ext>
            </a:extLst>
          </p:cNvPr>
          <p:cNvSpPr txBox="1"/>
          <p:nvPr/>
        </p:nvSpPr>
        <p:spPr>
          <a:xfrm>
            <a:off x="8086530" y="5697893"/>
            <a:ext cx="315554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YOU!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57698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287</TotalTime>
  <Words>540</Words>
  <Application>Microsoft Office PowerPoint</Application>
  <PresentationFormat>Widescreen</PresentationFormat>
  <Paragraphs>58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Aptos</vt:lpstr>
      <vt:lpstr>Aptos Display</vt:lpstr>
      <vt:lpstr>Arial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Chakram Pothala</dc:creator>
  <cp:keywords/>
  <dc:description>generated using python-pptx</dc:description>
  <cp:lastModifiedBy>Chakram Pothala</cp:lastModifiedBy>
  <cp:revision>12</cp:revision>
  <dcterms:created xsi:type="dcterms:W3CDTF">2013-01-27T09:14:16Z</dcterms:created>
  <dcterms:modified xsi:type="dcterms:W3CDTF">2026-10-12T05:11:50Z</dcterms:modified>
  <cp:category/>
</cp:coreProperties>
</file>